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294" autoAdjust="0"/>
    <p:restoredTop sz="94660"/>
  </p:normalViewPr>
  <p:slideViewPr>
    <p:cSldViewPr>
      <p:cViewPr varScale="1">
        <p:scale>
          <a:sx n="68" d="100"/>
          <a:sy n="68" d="100"/>
        </p:scale>
        <p:origin x="-1458"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ound Diagonal Corner Rectangle 6"/>
          <p:cNvSpPr/>
          <p:nvPr/>
        </p:nvSpPr>
        <p:spPr>
          <a:xfrm>
            <a:off x="164592" y="146304"/>
            <a:ext cx="8814816" cy="2505456"/>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Title 7"/>
          <p:cNvSpPr>
            <a:spLocks noGrp="1"/>
          </p:cNvSpPr>
          <p:nvPr>
            <p:ph type="ctrTitle"/>
          </p:nvPr>
        </p:nvSpPr>
        <p:spPr>
          <a:xfrm>
            <a:off x="464234" y="381001"/>
            <a:ext cx="8229600" cy="2209800"/>
          </a:xfrm>
        </p:spPr>
        <p:txBody>
          <a:bodyPr lIns="45720" rIns="228600" anchor="b">
            <a:normAutofit/>
          </a:bodyPr>
          <a:lstStyle>
            <a:lvl1pPr marL="0" algn="r">
              <a:defRPr sz="4800"/>
            </a:lvl1pPr>
            <a:extLst/>
          </a:lstStyle>
          <a:p>
            <a:r>
              <a:rPr kumimoji="0" lang="en-US" smtClean="0"/>
              <a:t>Click to edit Master title style</a:t>
            </a:r>
            <a:endParaRPr kumimoji="0" lang="en-US"/>
          </a:p>
        </p:txBody>
      </p:sp>
      <p:sp>
        <p:nvSpPr>
          <p:cNvPr id="9" name="Subtitle 8"/>
          <p:cNvSpPr>
            <a:spLocks noGrp="1"/>
          </p:cNvSpPr>
          <p:nvPr>
            <p:ph type="subTitle" idx="1"/>
          </p:nvPr>
        </p:nvSpPr>
        <p:spPr>
          <a:xfrm>
            <a:off x="2133600" y="2819400"/>
            <a:ext cx="6560234" cy="1752600"/>
          </a:xfrm>
        </p:spPr>
        <p:txBody>
          <a:bodyPr lIns="45720" rIns="246888"/>
          <a:lstStyle>
            <a:lvl1pPr marL="0" indent="0" algn="r">
              <a:spcBef>
                <a:spcPts val="0"/>
              </a:spcBef>
              <a:buNone/>
              <a:defRPr>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10" name="Date Placeholder 9"/>
          <p:cNvSpPr>
            <a:spLocks noGrp="1"/>
          </p:cNvSpPr>
          <p:nvPr>
            <p:ph type="dt" sz="half" idx="10"/>
          </p:nvPr>
        </p:nvSpPr>
        <p:spPr>
          <a:xfrm>
            <a:off x="5562600" y="6509004"/>
            <a:ext cx="3002280" cy="274320"/>
          </a:xfrm>
        </p:spPr>
        <p:txBody>
          <a:bodyPr vert="horz" rtlCol="0"/>
          <a:lstStyle>
            <a:extLst/>
          </a:lstStyle>
          <a:p>
            <a:fld id="{38DA106B-7BCE-44DF-B77F-64902E337630}" type="datetimeFigureOut">
              <a:rPr lang="en-US" smtClean="0"/>
              <a:pPr/>
              <a:t>10/26/2020</a:t>
            </a:fld>
            <a:endParaRPr lang="en-US"/>
          </a:p>
        </p:txBody>
      </p:sp>
      <p:sp>
        <p:nvSpPr>
          <p:cNvPr id="11" name="Slide Number Placeholder 10"/>
          <p:cNvSpPr>
            <a:spLocks noGrp="1"/>
          </p:cNvSpPr>
          <p:nvPr>
            <p:ph type="sldNum" sz="quarter" idx="11"/>
          </p:nvPr>
        </p:nvSpPr>
        <p:spPr>
          <a:xfrm>
            <a:off x="8638952" y="6509004"/>
            <a:ext cx="464288" cy="274320"/>
          </a:xfrm>
        </p:spPr>
        <p:txBody>
          <a:bodyPr vert="horz" rtlCol="0"/>
          <a:lstStyle>
            <a:lvl1pPr>
              <a:defRPr>
                <a:solidFill>
                  <a:schemeClr val="tx2">
                    <a:shade val="90000"/>
                  </a:schemeClr>
                </a:solidFill>
              </a:defRPr>
            </a:lvl1pPr>
            <a:extLst/>
          </a:lstStyle>
          <a:p>
            <a:fld id="{98095A44-8C2D-443B-88A0-F48F80084E83}" type="slidenum">
              <a:rPr lang="en-US" smtClean="0"/>
              <a:pPr/>
              <a:t>‹#›</a:t>
            </a:fld>
            <a:endParaRPr lang="en-US"/>
          </a:p>
        </p:txBody>
      </p:sp>
      <p:sp>
        <p:nvSpPr>
          <p:cNvPr id="12" name="Footer Placeholder 11"/>
          <p:cNvSpPr>
            <a:spLocks noGrp="1"/>
          </p:cNvSpPr>
          <p:nvPr>
            <p:ph type="ftr" sz="quarter" idx="12"/>
          </p:nvPr>
        </p:nvSpPr>
        <p:spPr>
          <a:xfrm>
            <a:off x="1600200" y="6509004"/>
            <a:ext cx="3907464" cy="274320"/>
          </a:xfrm>
        </p:spPr>
        <p:txBody>
          <a:bodyPr vert="horz" rtlCol="0"/>
          <a:lstStyle>
            <a:extLst/>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8DA106B-7BCE-44DF-B77F-64902E337630}" type="datetimeFigureOut">
              <a:rPr lang="en-US" smtClean="0"/>
              <a:pPr/>
              <a:t>10/26/2020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8095A44-8C2D-443B-88A0-F48F80084E8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7" name="Rectangle 6"/>
          <p:cNvSpPr/>
          <p:nvPr/>
        </p:nvSpPr>
        <p:spPr>
          <a:xfrm>
            <a:off x="1000128" y="3267456"/>
            <a:ext cx="74066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722376" y="498230"/>
            <a:ext cx="7772400" cy="2731008"/>
          </a:xfrm>
        </p:spPr>
        <p:txBody>
          <a:bodyPr rIns="100584"/>
          <a:lstStyle>
            <a:lvl1pPr algn="r">
              <a:buNone/>
              <a:defRPr sz="4000" b="1" cap="none">
                <a:solidFill>
                  <a:schemeClr val="accent1">
                    <a:tint val="95000"/>
                    <a:satMod val="200000"/>
                  </a:schemeClr>
                </a:solidFill>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287713"/>
            <a:ext cx="7772400" cy="1509712"/>
          </a:xfrm>
        </p:spPr>
        <p:txBody>
          <a:bodyPr rIns="128016" anchor="t"/>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8" name="Date Placeholder 7"/>
          <p:cNvSpPr>
            <a:spLocks noGrp="1"/>
          </p:cNvSpPr>
          <p:nvPr>
            <p:ph type="dt" sz="half" idx="10"/>
          </p:nvPr>
        </p:nvSpPr>
        <p:spPr>
          <a:xfrm>
            <a:off x="5562600" y="6513670"/>
            <a:ext cx="3002280" cy="274320"/>
          </a:xfrm>
        </p:spPr>
        <p:txBody>
          <a:bodyPr vert="horz" rtlCol="0"/>
          <a:lstStyle>
            <a:extLst/>
          </a:lstStyle>
          <a:p>
            <a:fld id="{38DA106B-7BCE-44DF-B77F-64902E337630}" type="datetimeFigureOut">
              <a:rPr lang="en-US" smtClean="0"/>
              <a:pPr/>
              <a:t>10/26/2020</a:t>
            </a:fld>
            <a:endParaRPr lang="en-US"/>
          </a:p>
        </p:txBody>
      </p:sp>
      <p:sp>
        <p:nvSpPr>
          <p:cNvPr id="9" name="Slide Number Placeholder 8"/>
          <p:cNvSpPr>
            <a:spLocks noGrp="1"/>
          </p:cNvSpPr>
          <p:nvPr>
            <p:ph type="sldNum" sz="quarter" idx="11"/>
          </p:nvPr>
        </p:nvSpPr>
        <p:spPr>
          <a:xfrm>
            <a:off x="8638952" y="6513670"/>
            <a:ext cx="464288" cy="274320"/>
          </a:xfrm>
        </p:spPr>
        <p:txBody>
          <a:bodyPr vert="horz" rtlCol="0"/>
          <a:lstStyle>
            <a:lvl1pPr>
              <a:defRPr>
                <a:solidFill>
                  <a:schemeClr val="tx2">
                    <a:shade val="90000"/>
                  </a:schemeClr>
                </a:solidFill>
              </a:defRPr>
            </a:lvl1pPr>
            <a:extLst/>
          </a:lstStyle>
          <a:p>
            <a:fld id="{98095A44-8C2D-443B-88A0-F48F80084E83}" type="slidenum">
              <a:rPr lang="en-US" smtClean="0"/>
              <a:pPr/>
              <a:t>‹#›</a:t>
            </a:fld>
            <a:endParaRPr lang="en-US"/>
          </a:p>
        </p:txBody>
      </p:sp>
      <p:sp>
        <p:nvSpPr>
          <p:cNvPr id="10" name="Footer Placeholder 9"/>
          <p:cNvSpPr>
            <a:spLocks noGrp="1"/>
          </p:cNvSpPr>
          <p:nvPr>
            <p:ph type="ftr" sz="quarter" idx="12"/>
          </p:nvPr>
        </p:nvSpPr>
        <p:spPr>
          <a:xfrm>
            <a:off x="1600200" y="6513670"/>
            <a:ext cx="3907464" cy="274320"/>
          </a:xfrm>
        </p:spPr>
        <p:txBody>
          <a:bodyPr vert="horz" rtlCol="0"/>
          <a:lstStyle>
            <a:extLst/>
          </a:lstStyle>
          <a:p>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45920"/>
            <a:ext cx="4038600" cy="45262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45920"/>
            <a:ext cx="4038600" cy="45262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8DA106B-7BCE-44DF-B77F-64902E337630}" type="datetimeFigureOut">
              <a:rPr lang="en-US" smtClean="0"/>
              <a:pPr/>
              <a:t>10/26/2020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a:xfrm>
            <a:off x="8641080" y="6514568"/>
            <a:ext cx="464288" cy="274320"/>
          </a:xfrm>
        </p:spPr>
        <p:txBody>
          <a:bodyPr/>
          <a:lstStyle>
            <a:extLst/>
          </a:lstStyle>
          <a:p>
            <a:fld id="{98095A44-8C2D-443B-88A0-F48F80084E83}" type="slidenum">
              <a:rPr lang="en-US" smtClean="0"/>
              <a:pPr/>
              <a:t>‹#›</a:t>
            </a:fld>
            <a:endParaRPr lang="en-US"/>
          </a:p>
        </p:txBody>
      </p:sp>
      <p:sp>
        <p:nvSpPr>
          <p:cNvPr id="10" name="Rectangle 9"/>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616744" y="216521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extLst/>
          </a:lstStyle>
          <a:p>
            <a:pPr algn="ctr" eaLnBrk="1" latinLnBrk="0" hangingPunct="1"/>
            <a:endParaRPr kumimoji="0" lang="en-US"/>
          </a:p>
        </p:txBody>
      </p:sp>
      <p:sp>
        <p:nvSpPr>
          <p:cNvPr id="11" name="Rectangle 10"/>
          <p:cNvSpPr/>
          <p:nvPr/>
        </p:nvSpPr>
        <p:spPr>
          <a:xfrm>
            <a:off x="4800600" y="216521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extLst/>
          </a:lstStyle>
          <a:p>
            <a:pPr algn="ctr" eaLnBrk="1" latinLnBrk="0" hangingPunct="1"/>
            <a:endParaRPr kumimoji="0" lang="en-US"/>
          </a:p>
        </p:txBody>
      </p:sp>
      <p:sp>
        <p:nvSpPr>
          <p:cNvPr id="2" name="Title 1"/>
          <p:cNvSpPr>
            <a:spLocks noGrp="1"/>
          </p:cNvSpPr>
          <p:nvPr>
            <p:ph type="title"/>
          </p:nvPr>
        </p:nvSpPr>
        <p:spPr>
          <a:xfrm>
            <a:off x="457200" y="251948"/>
            <a:ext cx="8229600"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3"/>
            <a:ext cx="4040188"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3"/>
            <a:ext cx="4041775"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941763"/>
          </a:xfrm>
        </p:spPr>
        <p:txBody>
          <a:bodyPr lIns="91440"/>
          <a:lstStyle>
            <a:lvl1pPr>
              <a:defRPr sz="22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941763"/>
          </a:xfrm>
        </p:spPr>
        <p:txBody>
          <a:bodyPr/>
          <a:lstStyle>
            <a:lvl1pPr>
              <a:defRPr sz="22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38DA106B-7BCE-44DF-B77F-64902E337630}" type="datetimeFigureOut">
              <a:rPr lang="en-US" smtClean="0"/>
              <a:pPr/>
              <a:t>10/26/2020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a:xfrm>
            <a:off x="8641080" y="6514568"/>
            <a:ext cx="464288" cy="274320"/>
          </a:xfrm>
        </p:spPr>
        <p:txBody>
          <a:bodyPr/>
          <a:lstStyle>
            <a:extLst/>
          </a:lstStyle>
          <a:p>
            <a:fld id="{98095A44-8C2D-443B-88A0-F48F80084E8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53218"/>
            <a:ext cx="8229600"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38DA106B-7BCE-44DF-B77F-64902E337630}" type="datetimeFigureOut">
              <a:rPr lang="en-US" smtClean="0"/>
              <a:pPr/>
              <a:t>10/26/2020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98095A44-8C2D-443B-88A0-F48F80084E83}" type="slidenum">
              <a:rPr lang="en-US" smtClean="0"/>
              <a:pPr/>
              <a:t>‹#›</a:t>
            </a:fld>
            <a:endParaRPr lang="en-US"/>
          </a:p>
        </p:txBody>
      </p:sp>
      <p:sp>
        <p:nvSpPr>
          <p:cNvPr id="7" name="Rectangle 6"/>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38DA106B-7BCE-44DF-B77F-64902E337630}" type="datetimeFigureOut">
              <a:rPr lang="en-US" smtClean="0"/>
              <a:pPr/>
              <a:t>10/26/2020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98095A44-8C2D-443B-88A0-F48F80084E8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5057552" y="105765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963136" y="304800"/>
            <a:ext cx="3931920" cy="762000"/>
          </a:xfrm>
        </p:spPr>
        <p:txBody>
          <a:bodyPr anchor="b"/>
          <a:lstStyle>
            <a:lvl1pPr marL="0" algn="r">
              <a:buNone/>
              <a:defRPr sz="2000" b="1"/>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963136" y="1107560"/>
            <a:ext cx="3931920" cy="1066800"/>
          </a:xfrm>
        </p:spPr>
        <p:txBody>
          <a:bodyPr/>
          <a:lstStyle>
            <a:lvl1pPr marL="0" indent="0" algn="r">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228600" y="2209800"/>
            <a:ext cx="8666456" cy="3977640"/>
          </a:xfrm>
        </p:spPr>
        <p:txBody>
          <a:bodyPr/>
          <a:lstStyle>
            <a:lvl1pPr marL="292608">
              <a:defRPr sz="3200"/>
            </a:lvl1pPr>
            <a:lvl2pPr marL="594360">
              <a:defRPr sz="2800"/>
            </a:lvl2pPr>
            <a:lvl3pPr marL="822960">
              <a:defRPr sz="2400"/>
            </a:lvl3pPr>
            <a:lvl4pPr marL="1051560">
              <a:defRPr sz="2000"/>
            </a:lvl4pPr>
            <a:lvl5pPr marL="1261872">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9" name="Date Placeholder 8"/>
          <p:cNvSpPr>
            <a:spLocks noGrp="1"/>
          </p:cNvSpPr>
          <p:nvPr>
            <p:ph type="dt" sz="half" idx="10"/>
          </p:nvPr>
        </p:nvSpPr>
        <p:spPr>
          <a:xfrm>
            <a:off x="5562600" y="6513670"/>
            <a:ext cx="3002280" cy="274320"/>
          </a:xfrm>
        </p:spPr>
        <p:txBody>
          <a:bodyPr vert="horz" rtlCol="0"/>
          <a:lstStyle>
            <a:extLst/>
          </a:lstStyle>
          <a:p>
            <a:fld id="{38DA106B-7BCE-44DF-B77F-64902E337630}" type="datetimeFigureOut">
              <a:rPr lang="en-US" smtClean="0"/>
              <a:pPr/>
              <a:t>10/26/2020</a:t>
            </a:fld>
            <a:endParaRPr lang="en-US"/>
          </a:p>
        </p:txBody>
      </p:sp>
      <p:sp>
        <p:nvSpPr>
          <p:cNvPr id="10" name="Slide Number Placeholder 9"/>
          <p:cNvSpPr>
            <a:spLocks noGrp="1"/>
          </p:cNvSpPr>
          <p:nvPr>
            <p:ph type="sldNum" sz="quarter" idx="11"/>
          </p:nvPr>
        </p:nvSpPr>
        <p:spPr>
          <a:xfrm>
            <a:off x="8638952" y="6513670"/>
            <a:ext cx="464288" cy="274320"/>
          </a:xfrm>
        </p:spPr>
        <p:txBody>
          <a:bodyPr vert="horz" rtlCol="0"/>
          <a:lstStyle>
            <a:lvl1pPr>
              <a:defRPr>
                <a:solidFill>
                  <a:schemeClr val="tx2">
                    <a:shade val="90000"/>
                  </a:schemeClr>
                </a:solidFill>
              </a:defRPr>
            </a:lvl1pPr>
            <a:extLst/>
          </a:lstStyle>
          <a:p>
            <a:fld id="{98095A44-8C2D-443B-88A0-F48F80084E83}" type="slidenum">
              <a:rPr lang="en-US" smtClean="0"/>
              <a:pPr/>
              <a:t>‹#›</a:t>
            </a:fld>
            <a:endParaRPr lang="en-US"/>
          </a:p>
        </p:txBody>
      </p:sp>
      <p:sp>
        <p:nvSpPr>
          <p:cNvPr id="11" name="Footer Placeholder 10"/>
          <p:cNvSpPr>
            <a:spLocks noGrp="1"/>
          </p:cNvSpPr>
          <p:nvPr>
            <p:ph type="ftr" sz="quarter" idx="12"/>
          </p:nvPr>
        </p:nvSpPr>
        <p:spPr>
          <a:xfrm>
            <a:off x="1600200" y="6513670"/>
            <a:ext cx="3907464" cy="274320"/>
          </a:xfrm>
        </p:spPr>
        <p:txBody>
          <a:bodyPr vert="horz" rtlCol="0"/>
          <a:lstStyle>
            <a:extLst/>
          </a:lstStyle>
          <a:p>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0443" y="4724400"/>
            <a:ext cx="5486400" cy="664536"/>
          </a:xfrm>
        </p:spPr>
        <p:txBody>
          <a:bodyPr anchor="b"/>
          <a:lstStyle>
            <a:lvl1pPr marL="0" algn="r">
              <a:buNone/>
              <a:defRPr sz="2000" b="1"/>
            </a:lvl1pPr>
            <a:extLst/>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3040443" y="5388936"/>
            <a:ext cx="5486400" cy="912255"/>
          </a:xfrm>
        </p:spPr>
        <p:txBody>
          <a:bodyPr/>
          <a:lstStyle>
            <a:lvl1pPr marL="0" indent="0" algn="r">
              <a:spcBef>
                <a:spcPts val="0"/>
              </a:spcBef>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13" name="Picture Placeholder 12"/>
          <p:cNvSpPr>
            <a:spLocks noGrp="1"/>
          </p:cNvSpPr>
          <p:nvPr>
            <p:ph type="pic" idx="1"/>
          </p:nvPr>
        </p:nvSpPr>
        <p:spPr>
          <a:xfrm>
            <a:off x="304800" y="249864"/>
            <a:ext cx="8534400" cy="4343400"/>
          </a:xfrm>
          <a:prstGeom prst="round2DiagRect">
            <a:avLst>
              <a:gd name="adj1" fmla="val 11403"/>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extLst/>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8" name="Date Placeholder 7"/>
          <p:cNvSpPr>
            <a:spLocks noGrp="1"/>
          </p:cNvSpPr>
          <p:nvPr>
            <p:ph type="dt" sz="half" idx="10"/>
          </p:nvPr>
        </p:nvSpPr>
        <p:spPr>
          <a:xfrm>
            <a:off x="5562600" y="6509004"/>
            <a:ext cx="3002280" cy="274320"/>
          </a:xfrm>
        </p:spPr>
        <p:txBody>
          <a:bodyPr vert="horz" rtlCol="0"/>
          <a:lstStyle>
            <a:extLst/>
          </a:lstStyle>
          <a:p>
            <a:fld id="{38DA106B-7BCE-44DF-B77F-64902E337630}" type="datetimeFigureOut">
              <a:rPr lang="en-US" smtClean="0"/>
              <a:pPr/>
              <a:t>10/26/2020</a:t>
            </a:fld>
            <a:endParaRPr lang="en-US"/>
          </a:p>
        </p:txBody>
      </p:sp>
      <p:sp>
        <p:nvSpPr>
          <p:cNvPr id="9" name="Slide Number Placeholder 8"/>
          <p:cNvSpPr>
            <a:spLocks noGrp="1"/>
          </p:cNvSpPr>
          <p:nvPr>
            <p:ph type="sldNum" sz="quarter" idx="11"/>
          </p:nvPr>
        </p:nvSpPr>
        <p:spPr>
          <a:xfrm>
            <a:off x="8638952" y="6509004"/>
            <a:ext cx="464288" cy="274320"/>
          </a:xfrm>
        </p:spPr>
        <p:txBody>
          <a:bodyPr vert="horz" rtlCol="0"/>
          <a:lstStyle>
            <a:lvl1pPr>
              <a:defRPr>
                <a:solidFill>
                  <a:schemeClr val="tx2">
                    <a:shade val="90000"/>
                  </a:schemeClr>
                </a:solidFill>
              </a:defRPr>
            </a:lvl1pPr>
            <a:extLst/>
          </a:lstStyle>
          <a:p>
            <a:fld id="{98095A44-8C2D-443B-88A0-F48F80084E83}" type="slidenum">
              <a:rPr lang="en-US" smtClean="0"/>
              <a:pPr/>
              <a:t>‹#›</a:t>
            </a:fld>
            <a:endParaRPr lang="en-US"/>
          </a:p>
        </p:txBody>
      </p:sp>
      <p:sp>
        <p:nvSpPr>
          <p:cNvPr id="10" name="Footer Placeholder 9"/>
          <p:cNvSpPr>
            <a:spLocks noGrp="1"/>
          </p:cNvSpPr>
          <p:nvPr>
            <p:ph type="ftr" sz="quarter" idx="12"/>
          </p:nvPr>
        </p:nvSpPr>
        <p:spPr>
          <a:xfrm>
            <a:off x="1600200" y="6509004"/>
            <a:ext cx="3907464" cy="274320"/>
          </a:xfrm>
        </p:spPr>
        <p:txBody>
          <a:bodyPr vert="horz" rtlCol="0"/>
          <a:lstStyle>
            <a:extLst/>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8DA106B-7BCE-44DF-B77F-64902E337630}" type="datetimeFigureOut">
              <a:rPr lang="en-US" smtClean="0"/>
              <a:pPr/>
              <a:t>10/26/2020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8095A44-8C2D-443B-88A0-F48F80084E8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lgn="l">
              <a:defRPr/>
            </a:lvl1pPr>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8DA106B-7BCE-44DF-B77F-64902E337630}" type="datetimeFigureOut">
              <a:rPr lang="en-US" smtClean="0"/>
              <a:pPr/>
              <a:t>10/26/2020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8095A44-8C2D-443B-88A0-F48F80084E8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Round Diagonal Corner Rectangle 6"/>
          <p:cNvSpPr/>
          <p:nvPr/>
        </p:nvSpPr>
        <p:spPr>
          <a:xfrm>
            <a:off x="164592" y="147085"/>
            <a:ext cx="8810846" cy="6565392"/>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Footer Placeholder 2"/>
          <p:cNvSpPr>
            <a:spLocks noGrp="1"/>
          </p:cNvSpPr>
          <p:nvPr>
            <p:ph type="ftr" sz="quarter" idx="3"/>
          </p:nvPr>
        </p:nvSpPr>
        <p:spPr>
          <a:xfrm>
            <a:off x="1295400" y="6400800"/>
            <a:ext cx="4212264" cy="274320"/>
          </a:xfrm>
          <a:prstGeom prst="rect">
            <a:avLst/>
          </a:prstGeom>
        </p:spPr>
        <p:txBody>
          <a:bodyPr/>
          <a:lstStyle>
            <a:lvl1pPr algn="r" eaLnBrk="1" latinLnBrk="0" hangingPunct="1">
              <a:defRPr kumimoji="0" sz="1300">
                <a:solidFill>
                  <a:schemeClr val="bg2">
                    <a:tint val="60000"/>
                    <a:satMod val="155000"/>
                  </a:schemeClr>
                </a:solidFill>
              </a:defRPr>
            </a:lvl1pPr>
            <a:extLst/>
          </a:lstStyle>
          <a:p>
            <a:endParaRPr lang="en-US"/>
          </a:p>
        </p:txBody>
      </p:sp>
      <p:sp>
        <p:nvSpPr>
          <p:cNvPr id="14" name="Date Placeholder 13"/>
          <p:cNvSpPr>
            <a:spLocks noGrp="1"/>
          </p:cNvSpPr>
          <p:nvPr>
            <p:ph type="dt" sz="half" idx="2"/>
          </p:nvPr>
        </p:nvSpPr>
        <p:spPr>
          <a:xfrm>
            <a:off x="5562600" y="6400800"/>
            <a:ext cx="3002280" cy="274320"/>
          </a:xfrm>
          <a:prstGeom prst="rect">
            <a:avLst/>
          </a:prstGeom>
        </p:spPr>
        <p:txBody>
          <a:bodyPr/>
          <a:lstStyle>
            <a:lvl1pPr algn="l" eaLnBrk="1" latinLnBrk="0" hangingPunct="1">
              <a:defRPr kumimoji="0" sz="1300">
                <a:solidFill>
                  <a:schemeClr val="bg2">
                    <a:tint val="60000"/>
                    <a:satMod val="155000"/>
                  </a:schemeClr>
                </a:solidFill>
              </a:defRPr>
            </a:lvl1pPr>
            <a:extLst/>
          </a:lstStyle>
          <a:p>
            <a:fld id="{38DA106B-7BCE-44DF-B77F-64902E337630}" type="datetimeFigureOut">
              <a:rPr lang="en-US" smtClean="0"/>
              <a:pPr/>
              <a:t>10/26/2020</a:t>
            </a:fld>
            <a:endParaRPr lang="en-US"/>
          </a:p>
        </p:txBody>
      </p:sp>
      <p:sp>
        <p:nvSpPr>
          <p:cNvPr id="23" name="Slide Number Placeholder 22"/>
          <p:cNvSpPr>
            <a:spLocks noGrp="1"/>
          </p:cNvSpPr>
          <p:nvPr>
            <p:ph type="sldNum" sz="quarter" idx="4"/>
          </p:nvPr>
        </p:nvSpPr>
        <p:spPr>
          <a:xfrm>
            <a:off x="8638952" y="6514568"/>
            <a:ext cx="464288" cy="274320"/>
          </a:xfrm>
          <a:prstGeom prst="rect">
            <a:avLst/>
          </a:prstGeom>
        </p:spPr>
        <p:txBody>
          <a:bodyPr anchor="ctr"/>
          <a:lstStyle>
            <a:lvl1pPr algn="r" eaLnBrk="1" latinLnBrk="0" hangingPunct="1">
              <a:defRPr kumimoji="0" sz="1600">
                <a:solidFill>
                  <a:schemeClr val="tx2">
                    <a:shade val="90000"/>
                  </a:schemeClr>
                </a:solidFill>
                <a:effectLst/>
              </a:defRPr>
            </a:lvl1pPr>
            <a:extLst/>
          </a:lstStyle>
          <a:p>
            <a:fld id="{98095A44-8C2D-443B-88A0-F48F80084E83}" type="slidenum">
              <a:rPr lang="en-US" smtClean="0"/>
              <a:pPr/>
              <a:t>‹#›</a:t>
            </a:fld>
            <a:endParaRPr lang="en-US"/>
          </a:p>
        </p:txBody>
      </p:sp>
      <p:sp>
        <p:nvSpPr>
          <p:cNvPr id="22" name="Title Placeholder 21"/>
          <p:cNvSpPr>
            <a:spLocks noGrp="1"/>
          </p:cNvSpPr>
          <p:nvPr>
            <p:ph type="title"/>
          </p:nvPr>
        </p:nvSpPr>
        <p:spPr>
          <a:xfrm>
            <a:off x="457200" y="253536"/>
            <a:ext cx="8229600" cy="1143000"/>
          </a:xfrm>
          <a:prstGeom prst="rect">
            <a:avLst/>
          </a:prstGeom>
        </p:spPr>
        <p:txBody>
          <a:bodyPr rIns="91440" anchor="b">
            <a:normAutofit/>
            <a:scene3d>
              <a:camera prst="orthographicFront"/>
              <a:lightRig rig="soft" dir="t">
                <a:rot lat="0" lon="0" rev="2400000"/>
              </a:lightRig>
            </a:scene3d>
            <a:sp3d>
              <a:bevelT w="19050" h="12700"/>
            </a:sp3d>
          </a:bodyPr>
          <a:lstStyle>
            <a:extLst/>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46237"/>
            <a:ext cx="8229600" cy="452628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marL="54864" algn="r" rtl="0" eaLnBrk="1" latinLnBrk="0" hangingPunct="1">
        <a:spcBef>
          <a:spcPct val="0"/>
        </a:spcBef>
        <a:buNone/>
        <a:defRPr kumimoji="0" sz="4600" kern="120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defRPr>
      </a:lvl1pPr>
      <a:extLst/>
    </p:titleStyle>
    <p:body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audio" Target="file:///C:\Users\my\Desktop\new%20Working\Oct%2026,%2007.02%20PM.mp3"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audio" Target="file:///C:\Users\my\Desktop\new%20Working\Oct%2025,%2002.38%20PM.mp3"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audio" Target="file:///C:\Users\my\Desktop\new%20Working\Oct%2025,%2002.40%20PM.mp3"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audio" Target="file:///C:\Users\my\Desktop\new%20Working\Oct%2025,%2002.58%20PM.mp3"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audio" Target="file:///C:\Users\my\Desktop\new%20Working\Oct%2025,%2003.01%20PM%20(1).mp3"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audio" Target="file:///C:\Users\my\Desktop\new%20Working\Oct%2025,%2008.09%20PM.mp3"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audio" Target="file:///C:\Users\my\Desktop\new%20Working\Oct%2025,%2008.14%20PM.mp3"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audio" Target="file:///C:\Users\my\Desktop\new%20Working\Oct%2025,%2008.25%20PM.mp3"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audio" Target="file:///C:\Users\my\Desktop\new%20Working\Oct%2025,%2008.30%20PM.mp3" TargetMode="Externa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audio" Target="file:///C:\Users\my\Desktop\new%20Working\Oct%2025,%2008.34%20PM.mp3" TargetMode="Externa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audio" Target="file:///C:\Users\my\Desktop\new%20Working\Oct%2025,%2008.37%20PM%20(1).mp3" TargetMode="Externa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audio" Target="file:///C:\Users\my\Desktop\new%20Working\Oct%2025,%2008.46%20PM.mp3" TargetMode="Externa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audio" Target="file:///C:\Users\my\Desktop\new%20Working\Oct%2025,%2008.47%20PM.mp3" TargetMode="Externa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audio" Target="file:///C:\Users\my\Desktop\new%20Working\Oct%2025,%2009.49%20PM.mp3"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audio" Target="file:///C:\Users\my\Desktop\new%20Working\Oct%2025,%2009.23%20PM.mp3"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audio" Target="file:///C:\Users\my\Desktop\new%20Working\Oct%2025,%2009.26%20PM.mp3"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audio" Target="file:///C:\Users\my\Desktop\new%20Working\Oct%2025,%2009.27%20PM.mp3"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audio" Target="file:///C:\Users\my\Desktop\new%20Working\Oct%2025,%2009.30%20PM%20(1).mp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4234" y="381001"/>
            <a:ext cx="8679766" cy="2133599"/>
          </a:xfrm>
        </p:spPr>
        <p:txBody>
          <a:bodyPr/>
          <a:lstStyle/>
          <a:p>
            <a:r>
              <a:rPr lang="en-US" dirty="0" smtClean="0"/>
              <a:t>5G NETWORK</a:t>
            </a:r>
            <a:endParaRPr lang="en-US" dirty="0"/>
          </a:p>
        </p:txBody>
      </p:sp>
      <p:sp>
        <p:nvSpPr>
          <p:cNvPr id="3" name="Subtitle 2"/>
          <p:cNvSpPr>
            <a:spLocks noGrp="1"/>
          </p:cNvSpPr>
          <p:nvPr>
            <p:ph type="subTitle" idx="1"/>
          </p:nvPr>
        </p:nvSpPr>
        <p:spPr>
          <a:xfrm>
            <a:off x="4572000" y="4419600"/>
            <a:ext cx="4572000" cy="2438400"/>
          </a:xfrm>
        </p:spPr>
        <p:txBody>
          <a:bodyPr>
            <a:normAutofit/>
          </a:bodyPr>
          <a:lstStyle/>
          <a:p>
            <a:pPr algn="l"/>
            <a:r>
              <a:rPr lang="en-US" sz="2400" b="1" dirty="0" smtClean="0"/>
              <a:t>Team members:</a:t>
            </a:r>
          </a:p>
          <a:p>
            <a:pPr algn="l"/>
            <a:r>
              <a:rPr lang="en-US" sz="2400" b="1" dirty="0" smtClean="0"/>
              <a:t>1. Name: </a:t>
            </a:r>
            <a:r>
              <a:rPr lang="en-US" sz="2400" dirty="0" err="1" smtClean="0"/>
              <a:t>Golam</a:t>
            </a:r>
            <a:r>
              <a:rPr lang="en-US" sz="2400" dirty="0" smtClean="0"/>
              <a:t> </a:t>
            </a:r>
            <a:r>
              <a:rPr lang="en-US" sz="2400" dirty="0" err="1" smtClean="0"/>
              <a:t>Kibria</a:t>
            </a:r>
            <a:r>
              <a:rPr lang="en-US" sz="2400" dirty="0" smtClean="0"/>
              <a:t> </a:t>
            </a:r>
            <a:r>
              <a:rPr lang="en-US" sz="2400" dirty="0" err="1" smtClean="0"/>
              <a:t>Tuhin</a:t>
            </a:r>
            <a:endParaRPr lang="en-US" sz="2400" b="1" dirty="0" smtClean="0"/>
          </a:p>
          <a:p>
            <a:pPr algn="l"/>
            <a:r>
              <a:rPr lang="en-US" sz="2400" b="1" dirty="0" smtClean="0"/>
              <a:t>          ID </a:t>
            </a:r>
            <a:r>
              <a:rPr lang="en-US" sz="2400" b="1" smtClean="0"/>
              <a:t>:</a:t>
            </a:r>
            <a:r>
              <a:rPr lang="en-US" sz="2400" smtClean="0"/>
              <a:t>IT-18015 </a:t>
            </a:r>
            <a:endParaRPr lang="en-US" sz="2400" b="1" dirty="0" smtClean="0"/>
          </a:p>
          <a:p>
            <a:pPr algn="l"/>
            <a:r>
              <a:rPr lang="en-US" sz="2400" b="1" dirty="0" smtClean="0"/>
              <a:t>2. Name: </a:t>
            </a:r>
            <a:r>
              <a:rPr lang="en-US" sz="2400" dirty="0" err="1" smtClean="0"/>
              <a:t>Afra</a:t>
            </a:r>
            <a:r>
              <a:rPr lang="en-US" sz="2400" dirty="0" smtClean="0"/>
              <a:t> </a:t>
            </a:r>
            <a:r>
              <a:rPr lang="en-US" sz="2400" dirty="0" err="1" smtClean="0"/>
              <a:t>Ibnat</a:t>
            </a:r>
            <a:r>
              <a:rPr lang="en-US" sz="2400" dirty="0" smtClean="0"/>
              <a:t> </a:t>
            </a:r>
            <a:r>
              <a:rPr lang="en-US" sz="2400" dirty="0" err="1" smtClean="0"/>
              <a:t>Tethye</a:t>
            </a:r>
            <a:endParaRPr lang="en-US" sz="2400" b="1" dirty="0" smtClean="0"/>
          </a:p>
          <a:p>
            <a:pPr algn="l"/>
            <a:r>
              <a:rPr lang="en-US" sz="2400" b="1" dirty="0" smtClean="0"/>
              <a:t>           ID: </a:t>
            </a:r>
            <a:r>
              <a:rPr lang="en-US" sz="2400" dirty="0" smtClean="0"/>
              <a:t>IT-18055</a:t>
            </a:r>
            <a:endParaRPr lang="en-US" sz="2400" b="1" dirty="0"/>
          </a:p>
        </p:txBody>
      </p:sp>
      <p:pic>
        <p:nvPicPr>
          <p:cNvPr id="1026" name="Picture 2"/>
          <p:cNvPicPr>
            <a:picLocks noChangeAspect="1" noChangeArrowheads="1"/>
          </p:cNvPicPr>
          <p:nvPr/>
        </p:nvPicPr>
        <p:blipFill>
          <a:blip r:embed="rId3"/>
          <a:srcRect/>
          <a:stretch>
            <a:fillRect/>
          </a:stretch>
        </p:blipFill>
        <p:spPr bwMode="auto">
          <a:xfrm>
            <a:off x="0" y="3498047"/>
            <a:ext cx="3962400" cy="3359953"/>
          </a:xfrm>
          <a:prstGeom prst="rect">
            <a:avLst/>
          </a:prstGeom>
          <a:noFill/>
          <a:ln w="9525">
            <a:noFill/>
            <a:miter lim="800000"/>
            <a:headEnd/>
            <a:tailEnd/>
          </a:ln>
          <a:effectLst/>
        </p:spPr>
      </p:pic>
      <p:pic>
        <p:nvPicPr>
          <p:cNvPr id="5" name="Oct 26, 07.02 PM.mp3">
            <a:hlinkClick r:id="" action="ppaction://media"/>
          </p:cNvPr>
          <p:cNvPicPr>
            <a:picLocks noRot="1" noChangeAspect="1"/>
          </p:cNvPicPr>
          <p:nvPr>
            <a:audioFile r:link="rId1"/>
          </p:nvPr>
        </p:nvPicPr>
        <p:blipFill>
          <a:blip r:embed="rId4"/>
          <a:stretch>
            <a:fillRect/>
          </a:stretch>
        </p:blipFill>
        <p:spPr>
          <a:xfrm>
            <a:off x="7772400" y="60960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41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3200400" cy="889464"/>
          </a:xfrm>
        </p:spPr>
        <p:txBody>
          <a:bodyPr/>
          <a:lstStyle/>
          <a:p>
            <a:r>
              <a:rPr lang="en-US" dirty="0" smtClean="0"/>
              <a:t>Questions</a:t>
            </a:r>
            <a:endParaRPr lang="en-US" dirty="0"/>
          </a:p>
        </p:txBody>
      </p:sp>
      <p:sp>
        <p:nvSpPr>
          <p:cNvPr id="3" name="Content Placeholder 2"/>
          <p:cNvSpPr>
            <a:spLocks noGrp="1"/>
          </p:cNvSpPr>
          <p:nvPr>
            <p:ph idx="1"/>
          </p:nvPr>
        </p:nvSpPr>
        <p:spPr>
          <a:xfrm>
            <a:off x="457200" y="1371600"/>
            <a:ext cx="8229600" cy="5257800"/>
          </a:xfrm>
        </p:spPr>
        <p:txBody>
          <a:bodyPr/>
          <a:lstStyle/>
          <a:p>
            <a:endParaRPr lang="en-US" dirty="0" smtClean="0"/>
          </a:p>
          <a:p>
            <a:r>
              <a:rPr lang="en-US" dirty="0" smtClean="0"/>
              <a:t>What is 5G network?</a:t>
            </a:r>
          </a:p>
          <a:p>
            <a:r>
              <a:rPr lang="en-US" dirty="0" smtClean="0"/>
              <a:t>Who Created 5G technology?</a:t>
            </a:r>
          </a:p>
          <a:p>
            <a:r>
              <a:rPr lang="en-US" dirty="0" smtClean="0"/>
              <a:t>What will enable 5G network?</a:t>
            </a:r>
          </a:p>
          <a:p>
            <a:r>
              <a:rPr lang="en-US" dirty="0" smtClean="0"/>
              <a:t>What new is offered by the 5G applications and devices?</a:t>
            </a:r>
          </a:p>
          <a:p>
            <a:r>
              <a:rPr lang="en-US" dirty="0" smtClean="0"/>
              <a:t>What are the major components of 5G technology?</a:t>
            </a:r>
          </a:p>
          <a:p>
            <a:r>
              <a:rPr lang="en-US" dirty="0" smtClean="0"/>
              <a:t>How does 5G  work?</a:t>
            </a:r>
          </a:p>
          <a:p>
            <a:endParaRPr lang="en-US" dirty="0"/>
          </a:p>
        </p:txBody>
      </p:sp>
      <p:pic>
        <p:nvPicPr>
          <p:cNvPr id="4" name="Oct 25, 02.38 PM.mp3">
            <a:hlinkClick r:id="" action="ppaction://media"/>
          </p:cNvPr>
          <p:cNvPicPr>
            <a:picLocks noRot="1" noChangeAspect="1"/>
          </p:cNvPicPr>
          <p:nvPr>
            <a:audioFile r:link="rId1"/>
          </p:nvPr>
        </p:nvPicPr>
        <p:blipFill>
          <a:blip r:embed="rId3"/>
          <a:stretch>
            <a:fillRect/>
          </a:stretch>
        </p:blipFill>
        <p:spPr>
          <a:xfrm>
            <a:off x="7467600" y="59436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34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3536"/>
            <a:ext cx="2971800" cy="889464"/>
          </a:xfrm>
        </p:spPr>
        <p:txBody>
          <a:bodyPr/>
          <a:lstStyle/>
          <a:p>
            <a:r>
              <a:rPr lang="en-US" dirty="0" smtClean="0"/>
              <a:t>Questions</a:t>
            </a:r>
            <a:endParaRPr lang="en-US" dirty="0"/>
          </a:p>
        </p:txBody>
      </p:sp>
      <p:sp>
        <p:nvSpPr>
          <p:cNvPr id="3" name="Content Placeholder 2"/>
          <p:cNvSpPr>
            <a:spLocks noGrp="1"/>
          </p:cNvSpPr>
          <p:nvPr>
            <p:ph idx="1"/>
          </p:nvPr>
        </p:nvSpPr>
        <p:spPr/>
        <p:txBody>
          <a:bodyPr/>
          <a:lstStyle/>
          <a:p>
            <a:endParaRPr lang="en-US" dirty="0" smtClean="0"/>
          </a:p>
          <a:p>
            <a:r>
              <a:rPr lang="en-US" dirty="0" smtClean="0"/>
              <a:t>What are the difference between 4G and 5G network?</a:t>
            </a:r>
          </a:p>
          <a:p>
            <a:r>
              <a:rPr lang="en-US" dirty="0" smtClean="0"/>
              <a:t>Will  5G work on 4G Phones or Devices?</a:t>
            </a:r>
          </a:p>
          <a:p>
            <a:r>
              <a:rPr lang="en-US" dirty="0" smtClean="0"/>
              <a:t>What are the disadvantages of 5G technology?</a:t>
            </a:r>
          </a:p>
          <a:p>
            <a:r>
              <a:rPr lang="en-US" dirty="0" smtClean="0"/>
              <a:t>Which countries have 5G network?</a:t>
            </a:r>
          </a:p>
          <a:p>
            <a:endParaRPr lang="en-US" dirty="0"/>
          </a:p>
        </p:txBody>
      </p:sp>
      <p:pic>
        <p:nvPicPr>
          <p:cNvPr id="4" name="Oct 25, 02.40 PM.mp3">
            <a:hlinkClick r:id="" action="ppaction://media"/>
          </p:cNvPr>
          <p:cNvPicPr>
            <a:picLocks noRot="1" noChangeAspect="1"/>
          </p:cNvPicPr>
          <p:nvPr>
            <a:audioFile r:link="rId1"/>
          </p:nvPr>
        </p:nvPicPr>
        <p:blipFill>
          <a:blip r:embed="rId3"/>
          <a:stretch>
            <a:fillRect/>
          </a:stretch>
        </p:blipFill>
        <p:spPr>
          <a:xfrm>
            <a:off x="7696200" y="56388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76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5G network?</a:t>
            </a:r>
            <a:endParaRPr lang="en-US" dirty="0"/>
          </a:p>
        </p:txBody>
      </p:sp>
      <p:sp>
        <p:nvSpPr>
          <p:cNvPr id="3" name="Content Placeholder 2"/>
          <p:cNvSpPr>
            <a:spLocks noGrp="1"/>
          </p:cNvSpPr>
          <p:nvPr>
            <p:ph idx="1"/>
          </p:nvPr>
        </p:nvSpPr>
        <p:spPr/>
        <p:txBody>
          <a:bodyPr/>
          <a:lstStyle/>
          <a:p>
            <a:pPr>
              <a:buNone/>
            </a:pPr>
            <a:r>
              <a:rPr lang="en-US" dirty="0" smtClean="0"/>
              <a:t>   In telecommunications, 5G is the fifth generation technology standard for broadband cellular networks , which cellular phone companies began deploying worldwide in 2019, and is the planned successor to the 4G networks which proved connectivity to most current cell phones.</a:t>
            </a:r>
            <a:endParaRPr lang="en-US" dirty="0"/>
          </a:p>
        </p:txBody>
      </p:sp>
      <p:pic>
        <p:nvPicPr>
          <p:cNvPr id="4" name="Oct 25, 02.58 PM.mp3">
            <a:hlinkClick r:id="" action="ppaction://media"/>
          </p:cNvPr>
          <p:cNvPicPr>
            <a:picLocks noRot="1" noChangeAspect="1"/>
          </p:cNvPicPr>
          <p:nvPr>
            <a:audioFile r:link="rId1"/>
          </p:nvPr>
        </p:nvPicPr>
        <p:blipFill>
          <a:blip r:embed="rId3"/>
          <a:stretch>
            <a:fillRect/>
          </a:stretch>
        </p:blipFill>
        <p:spPr>
          <a:xfrm>
            <a:off x="7696200" y="57912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58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Who created 5G technology?</a:t>
            </a:r>
            <a:endParaRPr lang="en-US" dirty="0"/>
          </a:p>
        </p:txBody>
      </p:sp>
      <p:sp>
        <p:nvSpPr>
          <p:cNvPr id="3" name="Content Placeholder 2"/>
          <p:cNvSpPr>
            <a:spLocks noGrp="1"/>
          </p:cNvSpPr>
          <p:nvPr>
            <p:ph idx="1"/>
          </p:nvPr>
        </p:nvSpPr>
        <p:spPr/>
        <p:txBody>
          <a:bodyPr/>
          <a:lstStyle/>
          <a:p>
            <a:pPr>
              <a:buNone/>
            </a:pPr>
            <a:r>
              <a:rPr lang="en-US" dirty="0" smtClean="0"/>
              <a:t>   AT&amp;T had deployed 5G in 21 cities and claimed the 5G network would be deployed in 30 states by the end  of 2019.  The  5G standards are being jointly developed by the International Telecommunication Union (ITU) and 3GPP.  The standard written by the ITU called the IMT-2020. </a:t>
            </a:r>
            <a:endParaRPr lang="en-US" dirty="0"/>
          </a:p>
        </p:txBody>
      </p:sp>
      <p:pic>
        <p:nvPicPr>
          <p:cNvPr id="4" name="Oct 25, 03.01 PM (1).mp3">
            <a:hlinkClick r:id="" action="ppaction://media"/>
          </p:cNvPr>
          <p:cNvPicPr>
            <a:picLocks noRot="1" noChangeAspect="1"/>
          </p:cNvPicPr>
          <p:nvPr>
            <a:audioFile r:link="rId1"/>
          </p:nvPr>
        </p:nvPicPr>
        <p:blipFill>
          <a:blip r:embed="rId3"/>
          <a:stretch>
            <a:fillRect/>
          </a:stretch>
        </p:blipFill>
        <p:spPr>
          <a:xfrm>
            <a:off x="7772400" y="56388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92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3536"/>
            <a:ext cx="7467600" cy="1118064"/>
          </a:xfrm>
        </p:spPr>
        <p:txBody>
          <a:bodyPr>
            <a:normAutofit fontScale="90000"/>
          </a:bodyPr>
          <a:lstStyle/>
          <a:p>
            <a:r>
              <a:rPr lang="en-US" dirty="0" smtClean="0"/>
              <a:t>What will enable 5G network?</a:t>
            </a:r>
            <a:endParaRPr lang="en-US" dirty="0"/>
          </a:p>
        </p:txBody>
      </p:sp>
      <p:sp>
        <p:nvSpPr>
          <p:cNvPr id="3" name="Content Placeholder 2"/>
          <p:cNvSpPr>
            <a:spLocks noGrp="1"/>
          </p:cNvSpPr>
          <p:nvPr>
            <p:ph idx="1"/>
          </p:nvPr>
        </p:nvSpPr>
        <p:spPr/>
        <p:txBody>
          <a:bodyPr/>
          <a:lstStyle/>
          <a:p>
            <a:pPr>
              <a:buNone/>
            </a:pPr>
            <a:r>
              <a:rPr lang="en-US" dirty="0" smtClean="0"/>
              <a:t>    5G will enable instantaneous connectivity to  billions of devices , the Internet of Things (</a:t>
            </a:r>
            <a:r>
              <a:rPr lang="en-US" dirty="0" err="1" smtClean="0"/>
              <a:t>IoT</a:t>
            </a:r>
            <a:r>
              <a:rPr lang="en-US" dirty="0" smtClean="0"/>
              <a:t>) and a truly connected world. 5G will provide the speed, low latency and connectivity to enable a new generation of applications, services and business opportunities that have not been seen before.  </a:t>
            </a:r>
            <a:endParaRPr lang="en-US" dirty="0"/>
          </a:p>
        </p:txBody>
      </p:sp>
      <p:pic>
        <p:nvPicPr>
          <p:cNvPr id="4" name="Oct 25, 08.09 PM.mp3">
            <a:hlinkClick r:id="" action="ppaction://media"/>
          </p:cNvPr>
          <p:cNvPicPr>
            <a:picLocks noRot="1" noChangeAspect="1"/>
          </p:cNvPicPr>
          <p:nvPr>
            <a:audioFile r:link="rId1"/>
          </p:nvPr>
        </p:nvPicPr>
        <p:blipFill>
          <a:blip r:embed="rId3"/>
          <a:stretch>
            <a:fillRect/>
          </a:stretch>
        </p:blipFill>
        <p:spPr>
          <a:xfrm>
            <a:off x="7620000" y="58674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11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091736"/>
          </a:xfrm>
        </p:spPr>
        <p:txBody>
          <a:bodyPr>
            <a:normAutofit fontScale="90000"/>
          </a:bodyPr>
          <a:lstStyle/>
          <a:p>
            <a:r>
              <a:rPr lang="en-US" dirty="0" smtClean="0"/>
              <a:t/>
            </a:r>
            <a:br>
              <a:rPr lang="en-US" dirty="0" smtClean="0"/>
            </a:br>
            <a:r>
              <a:rPr lang="en-US" dirty="0" smtClean="0"/>
              <a:t>What new is offered by  5G application?</a:t>
            </a:r>
            <a:endParaRPr lang="en-US" dirty="0"/>
          </a:p>
        </p:txBody>
      </p:sp>
      <p:sp>
        <p:nvSpPr>
          <p:cNvPr id="3" name="Content Placeholder 2"/>
          <p:cNvSpPr>
            <a:spLocks noGrp="1"/>
          </p:cNvSpPr>
          <p:nvPr>
            <p:ph idx="1"/>
          </p:nvPr>
        </p:nvSpPr>
        <p:spPr/>
        <p:txBody>
          <a:bodyPr/>
          <a:lstStyle/>
          <a:p>
            <a:pPr>
              <a:buNone/>
            </a:pPr>
            <a:r>
              <a:rPr lang="en-US" dirty="0" smtClean="0"/>
              <a:t>      It is expected that 5G will offer mobile internet speeds of more than 10 gigabits per second (</a:t>
            </a:r>
            <a:r>
              <a:rPr lang="en-US" dirty="0" err="1" smtClean="0"/>
              <a:t>Gbps</a:t>
            </a:r>
            <a:r>
              <a:rPr lang="en-US" dirty="0" smtClean="0"/>
              <a:t>), approximately a hundred times faster than 4G.</a:t>
            </a:r>
          </a:p>
          <a:p>
            <a:pPr>
              <a:buNone/>
            </a:pPr>
            <a:endParaRPr lang="en-US" dirty="0" smtClean="0"/>
          </a:p>
          <a:p>
            <a:pPr>
              <a:buNone/>
            </a:pPr>
            <a:r>
              <a:rPr lang="en-US" dirty="0" smtClean="0"/>
              <a:t>      The latency will be less than a millisecond with 5G network. </a:t>
            </a:r>
            <a:endParaRPr lang="en-US" dirty="0"/>
          </a:p>
        </p:txBody>
      </p:sp>
      <p:pic>
        <p:nvPicPr>
          <p:cNvPr id="4" name="Oct 25, 08.14 PM.mp3">
            <a:hlinkClick r:id="" action="ppaction://media"/>
          </p:cNvPr>
          <p:cNvPicPr>
            <a:picLocks noRot="1" noChangeAspect="1"/>
          </p:cNvPicPr>
          <p:nvPr>
            <a:audioFile r:link="rId1"/>
          </p:nvPr>
        </p:nvPicPr>
        <p:blipFill>
          <a:blip r:embed="rId3"/>
          <a:stretch>
            <a:fillRect/>
          </a:stretch>
        </p:blipFill>
        <p:spPr>
          <a:xfrm>
            <a:off x="7620000" y="57912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34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are the major components of 5G technology?</a:t>
            </a:r>
            <a:endParaRPr lang="en-US" dirty="0"/>
          </a:p>
        </p:txBody>
      </p:sp>
      <p:sp>
        <p:nvSpPr>
          <p:cNvPr id="3" name="Content Placeholder 2"/>
          <p:cNvSpPr>
            <a:spLocks noGrp="1"/>
          </p:cNvSpPr>
          <p:nvPr>
            <p:ph idx="1"/>
          </p:nvPr>
        </p:nvSpPr>
        <p:spPr/>
        <p:txBody>
          <a:bodyPr/>
          <a:lstStyle/>
          <a:p>
            <a:pPr>
              <a:buNone/>
            </a:pPr>
            <a:r>
              <a:rPr lang="en-US" dirty="0" smtClean="0"/>
              <a:t>      For ultra fast mobile broadband, low latency and ultra reliable network to support all future applications, existing technologies have many limitations. 5G will be using new network terminologies, high bandwidth spectrum, complex modulation schemes and algorithms with advanced hardware modules.</a:t>
            </a:r>
            <a:endParaRPr lang="en-US" dirty="0"/>
          </a:p>
        </p:txBody>
      </p:sp>
      <p:pic>
        <p:nvPicPr>
          <p:cNvPr id="4" name="Oct 25, 08.25 PM.mp3">
            <a:hlinkClick r:id="" action="ppaction://media"/>
          </p:cNvPr>
          <p:cNvPicPr>
            <a:picLocks noRot="1" noChangeAspect="1"/>
          </p:cNvPicPr>
          <p:nvPr>
            <a:audioFile r:link="rId1"/>
          </p:nvPr>
        </p:nvPicPr>
        <p:blipFill>
          <a:blip r:embed="rId3"/>
          <a:stretch>
            <a:fillRect/>
          </a:stretch>
        </p:blipFill>
        <p:spPr>
          <a:xfrm>
            <a:off x="7620000" y="58674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85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are the major components of 5g technology?</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Spectrum – 5G NR:</a:t>
            </a:r>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pPr>
              <a:buNone/>
            </a:pPr>
            <a:endParaRPr lang="en-US" dirty="0" smtClean="0"/>
          </a:p>
          <a:p>
            <a:pPr>
              <a:buNone/>
            </a:pPr>
            <a:endParaRPr lang="en-US" dirty="0" smtClean="0"/>
          </a:p>
          <a:p>
            <a:pPr>
              <a:buNone/>
            </a:pPr>
            <a:r>
              <a:rPr lang="en-US" dirty="0" smtClean="0"/>
              <a:t>    5G New Radio is a new spectrum that will be utilized in 5G applications to support much higher data rate. Millimeter wave spectrum from 24 GHz to 90 GHz and unlicensed sub-6GHz spectrum will be used in first generation of 5G deployments of mobile broadband.</a:t>
            </a:r>
            <a:endParaRPr lang="en-US" b="1" dirty="0" smtClean="0"/>
          </a:p>
          <a:p>
            <a:endParaRPr lang="en-US" b="1" dirty="0" smtClean="0"/>
          </a:p>
        </p:txBody>
      </p:sp>
      <p:pic>
        <p:nvPicPr>
          <p:cNvPr id="2050" name="Picture 2"/>
          <p:cNvPicPr>
            <a:picLocks noChangeAspect="1" noChangeArrowheads="1"/>
          </p:cNvPicPr>
          <p:nvPr/>
        </p:nvPicPr>
        <p:blipFill>
          <a:blip r:embed="rId3"/>
          <a:srcRect/>
          <a:stretch>
            <a:fillRect/>
          </a:stretch>
        </p:blipFill>
        <p:spPr bwMode="auto">
          <a:xfrm>
            <a:off x="1552575" y="2338388"/>
            <a:ext cx="6038850" cy="2181225"/>
          </a:xfrm>
          <a:prstGeom prst="rect">
            <a:avLst/>
          </a:prstGeom>
          <a:noFill/>
          <a:ln w="9525">
            <a:noFill/>
            <a:miter lim="800000"/>
            <a:headEnd/>
            <a:tailEnd/>
          </a:ln>
          <a:effectLst/>
        </p:spPr>
      </p:pic>
      <p:pic>
        <p:nvPicPr>
          <p:cNvPr id="5" name="Oct 25, 08.30 PM.mp3">
            <a:hlinkClick r:id="" action="ppaction://media"/>
          </p:cNvPr>
          <p:cNvPicPr>
            <a:picLocks noRot="1" noChangeAspect="1"/>
          </p:cNvPicPr>
          <p:nvPr>
            <a:audioFile r:link="rId1"/>
          </p:nvPr>
        </p:nvPicPr>
        <p:blipFill>
          <a:blip r:embed="rId4"/>
          <a:stretch>
            <a:fillRect/>
          </a:stretch>
        </p:blipFill>
        <p:spPr>
          <a:xfrm>
            <a:off x="7543800" y="58674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34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5"/>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are the major components of 5G technology? </a:t>
            </a:r>
            <a:endParaRPr lang="en-US" dirty="0"/>
          </a:p>
        </p:txBody>
      </p:sp>
      <p:sp>
        <p:nvSpPr>
          <p:cNvPr id="13" name="Content Placeholder 12"/>
          <p:cNvSpPr>
            <a:spLocks noGrp="1"/>
          </p:cNvSpPr>
          <p:nvPr>
            <p:ph idx="1"/>
          </p:nvPr>
        </p:nvSpPr>
        <p:spPr/>
        <p:txBody>
          <a:bodyPr>
            <a:normAutofit fontScale="62500" lnSpcReduction="20000"/>
          </a:bodyPr>
          <a:lstStyle/>
          <a:p>
            <a:r>
              <a:rPr lang="en-US" b="1" dirty="0" smtClean="0"/>
              <a:t>Small cells and </a:t>
            </a:r>
            <a:r>
              <a:rPr lang="en-US" b="1" dirty="0" err="1" smtClean="0"/>
              <a:t>pico</a:t>
            </a:r>
            <a:r>
              <a:rPr lang="en-US" b="1" dirty="0" smtClean="0"/>
              <a:t>-cells:</a:t>
            </a:r>
          </a:p>
          <a:p>
            <a:endParaRPr lang="en-US" dirty="0" smtClean="0"/>
          </a:p>
          <a:p>
            <a:endParaRPr lang="en-US" dirty="0" smtClean="0"/>
          </a:p>
          <a:p>
            <a:endParaRPr lang="en-US" dirty="0" smtClean="0"/>
          </a:p>
          <a:p>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     Small cells are low power base stations used in LTE advanced versions and 5G technology to power devices in a smaller geographical area like few hundred meters up to 2 KM radius. Smalls cells will be using millimeter waves to transmit and receive data. Millimeter waves are not suitable for long distance communication due to higher distortion from atmosphere and obstacles.</a:t>
            </a:r>
          </a:p>
          <a:p>
            <a:pPr>
              <a:buNone/>
            </a:pPr>
            <a:endParaRPr lang="en-US" dirty="0" smtClean="0"/>
          </a:p>
          <a:p>
            <a:endParaRPr lang="en-US" dirty="0"/>
          </a:p>
        </p:txBody>
      </p:sp>
      <p:pic>
        <p:nvPicPr>
          <p:cNvPr id="15" name="Picture 6"/>
          <p:cNvPicPr>
            <a:picLocks noChangeAspect="1" noChangeArrowheads="1"/>
          </p:cNvPicPr>
          <p:nvPr/>
        </p:nvPicPr>
        <p:blipFill>
          <a:blip r:embed="rId3"/>
          <a:srcRect/>
          <a:stretch>
            <a:fillRect/>
          </a:stretch>
        </p:blipFill>
        <p:spPr bwMode="auto">
          <a:xfrm>
            <a:off x="2362200" y="2362200"/>
            <a:ext cx="4267200" cy="1918494"/>
          </a:xfrm>
          <a:prstGeom prst="rect">
            <a:avLst/>
          </a:prstGeom>
          <a:noFill/>
          <a:ln w="9525">
            <a:noFill/>
            <a:miter lim="800000"/>
            <a:headEnd/>
            <a:tailEnd/>
          </a:ln>
          <a:effectLst/>
        </p:spPr>
      </p:pic>
      <p:pic>
        <p:nvPicPr>
          <p:cNvPr id="5" name="Oct 25, 08.34 PM.mp3">
            <a:hlinkClick r:id="" action="ppaction://media"/>
          </p:cNvPr>
          <p:cNvPicPr>
            <a:picLocks noRot="1" noChangeAspect="1"/>
          </p:cNvPicPr>
          <p:nvPr>
            <a:audioFile r:link="rId1"/>
          </p:nvPr>
        </p:nvPicPr>
        <p:blipFill>
          <a:blip r:embed="rId4"/>
          <a:stretch>
            <a:fillRect/>
          </a:stretch>
        </p:blipFill>
        <p:spPr>
          <a:xfrm>
            <a:off x="7467600" y="60198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579"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5"/>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are the major components of 5G technology? </a:t>
            </a:r>
            <a:endParaRPr lang="en-US" dirty="0"/>
          </a:p>
        </p:txBody>
      </p:sp>
      <p:sp>
        <p:nvSpPr>
          <p:cNvPr id="5" name="Content Placeholder 4"/>
          <p:cNvSpPr>
            <a:spLocks noGrp="1"/>
          </p:cNvSpPr>
          <p:nvPr>
            <p:ph idx="1"/>
          </p:nvPr>
        </p:nvSpPr>
        <p:spPr/>
        <p:txBody>
          <a:bodyPr>
            <a:normAutofit/>
          </a:bodyPr>
          <a:lstStyle/>
          <a:p>
            <a:r>
              <a:rPr lang="en-US" sz="2000" b="1" dirty="0" smtClean="0"/>
              <a:t>Massive MIMO</a:t>
            </a:r>
            <a:r>
              <a:rPr lang="en-US" sz="2000" dirty="0" smtClean="0"/>
              <a:t>:</a:t>
            </a:r>
          </a:p>
          <a:p>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r>
              <a:rPr lang="en-US" sz="2000" dirty="0" smtClean="0"/>
              <a:t>     MIMO (Multiple Input Multiple Output) concept is used to increase data rate with addition of antenna for transmitting and receiving signals. Large number of miniature sized antenna arrays are used in 5G technology. User devices also will be capable of receiving and sending data using multiple antennas integrated in mobile devices.</a:t>
            </a:r>
            <a:endParaRPr lang="en-US" sz="2000" dirty="0"/>
          </a:p>
        </p:txBody>
      </p:sp>
      <p:pic>
        <p:nvPicPr>
          <p:cNvPr id="6" name="Picture 2"/>
          <p:cNvPicPr>
            <a:picLocks noChangeAspect="1" noChangeArrowheads="1"/>
          </p:cNvPicPr>
          <p:nvPr/>
        </p:nvPicPr>
        <p:blipFill>
          <a:blip r:embed="rId3"/>
          <a:srcRect/>
          <a:stretch>
            <a:fillRect/>
          </a:stretch>
        </p:blipFill>
        <p:spPr bwMode="auto">
          <a:xfrm>
            <a:off x="2362200" y="2133600"/>
            <a:ext cx="3810000" cy="1590675"/>
          </a:xfrm>
          <a:prstGeom prst="rect">
            <a:avLst/>
          </a:prstGeom>
          <a:noFill/>
          <a:ln w="9525">
            <a:noFill/>
            <a:miter lim="800000"/>
            <a:headEnd/>
            <a:tailEnd/>
          </a:ln>
          <a:effectLst/>
        </p:spPr>
      </p:pic>
      <p:pic>
        <p:nvPicPr>
          <p:cNvPr id="7" name="Oct 25, 08.37 PM (1).mp3">
            <a:hlinkClick r:id="" action="ppaction://media"/>
          </p:cNvPr>
          <p:cNvPicPr>
            <a:picLocks noRot="1" noChangeAspect="1"/>
          </p:cNvPicPr>
          <p:nvPr>
            <a:audioFile r:link="rId1"/>
          </p:nvPr>
        </p:nvPicPr>
        <p:blipFill>
          <a:blip r:embed="rId4"/>
          <a:stretch>
            <a:fillRect/>
          </a:stretch>
        </p:blipFill>
        <p:spPr>
          <a:xfrm>
            <a:off x="7543800" y="60198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43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are the major components of 5G technology? </a:t>
            </a:r>
            <a:endParaRPr lang="en-US" dirty="0"/>
          </a:p>
        </p:txBody>
      </p:sp>
      <p:sp>
        <p:nvSpPr>
          <p:cNvPr id="5" name="Content Placeholder 4"/>
          <p:cNvSpPr>
            <a:spLocks noGrp="1"/>
          </p:cNvSpPr>
          <p:nvPr>
            <p:ph idx="1"/>
          </p:nvPr>
        </p:nvSpPr>
        <p:spPr/>
        <p:txBody>
          <a:bodyPr>
            <a:normAutofit/>
          </a:bodyPr>
          <a:lstStyle/>
          <a:p>
            <a:r>
              <a:rPr lang="en-US" sz="2000" b="1" dirty="0" err="1" smtClean="0"/>
              <a:t>Beamforming</a:t>
            </a:r>
            <a:r>
              <a:rPr lang="en-US" sz="2000" b="1" dirty="0" smtClean="0"/>
              <a:t>:</a:t>
            </a:r>
          </a:p>
          <a:p>
            <a:endParaRPr lang="en-US" sz="2000" dirty="0" smtClean="0"/>
          </a:p>
          <a:p>
            <a:pPr>
              <a:buNone/>
            </a:pPr>
            <a:r>
              <a:rPr lang="en-US" sz="2000" dirty="0" err="1" smtClean="0"/>
              <a:t>Beamforming</a:t>
            </a:r>
            <a:r>
              <a:rPr lang="en-US" sz="2000" dirty="0" smtClean="0"/>
              <a:t> is another smart technology</a:t>
            </a:r>
          </a:p>
          <a:p>
            <a:pPr>
              <a:buNone/>
            </a:pPr>
            <a:r>
              <a:rPr lang="en-US" sz="2000" dirty="0" smtClean="0"/>
              <a:t> concept to efficiently transmit data to user</a:t>
            </a:r>
          </a:p>
          <a:p>
            <a:pPr>
              <a:buNone/>
            </a:pPr>
            <a:r>
              <a:rPr lang="en-US" sz="2000" dirty="0" smtClean="0"/>
              <a:t> devices. Precise location of the user </a:t>
            </a:r>
          </a:p>
          <a:p>
            <a:pPr>
              <a:buNone/>
            </a:pPr>
            <a:r>
              <a:rPr lang="en-US" sz="2000" dirty="0" smtClean="0"/>
              <a:t>device is continuously tracked using </a:t>
            </a:r>
          </a:p>
          <a:p>
            <a:pPr>
              <a:buNone/>
            </a:pPr>
            <a:r>
              <a:rPr lang="en-US" sz="2000" dirty="0" smtClean="0"/>
              <a:t>advanced software algorithms and base</a:t>
            </a:r>
          </a:p>
          <a:p>
            <a:pPr>
              <a:buNone/>
            </a:pPr>
            <a:r>
              <a:rPr lang="en-US" sz="2000" dirty="0" smtClean="0"/>
              <a:t> stations transmit signals only in the </a:t>
            </a:r>
          </a:p>
          <a:p>
            <a:pPr>
              <a:buNone/>
            </a:pPr>
            <a:r>
              <a:rPr lang="en-US" sz="2000" dirty="0" smtClean="0"/>
              <a:t>direction of the user’s location. </a:t>
            </a:r>
          </a:p>
          <a:p>
            <a:pPr>
              <a:buNone/>
            </a:pPr>
            <a:r>
              <a:rPr lang="en-US" sz="2000" dirty="0" smtClean="0"/>
              <a:t> Conventional base stations transmit </a:t>
            </a:r>
          </a:p>
          <a:p>
            <a:pPr>
              <a:buNone/>
            </a:pPr>
            <a:r>
              <a:rPr lang="en-US" sz="2000" dirty="0" smtClean="0"/>
              <a:t>data in multiple directions which causes </a:t>
            </a:r>
          </a:p>
          <a:p>
            <a:pPr>
              <a:buNone/>
            </a:pPr>
            <a:r>
              <a:rPr lang="en-US" sz="2000" dirty="0" smtClean="0"/>
              <a:t>higher power consumption and unnecessary resource utilization.   </a:t>
            </a:r>
            <a:endParaRPr lang="en-US" sz="2000" dirty="0"/>
          </a:p>
        </p:txBody>
      </p:sp>
      <p:pic>
        <p:nvPicPr>
          <p:cNvPr id="6" name="Picture 2"/>
          <p:cNvPicPr>
            <a:picLocks noChangeAspect="1" noChangeArrowheads="1"/>
          </p:cNvPicPr>
          <p:nvPr/>
        </p:nvPicPr>
        <p:blipFill>
          <a:blip r:embed="rId3"/>
          <a:srcRect/>
          <a:stretch>
            <a:fillRect/>
          </a:stretch>
        </p:blipFill>
        <p:spPr bwMode="auto">
          <a:xfrm>
            <a:off x="5562600" y="2286000"/>
            <a:ext cx="3390900" cy="2743200"/>
          </a:xfrm>
          <a:prstGeom prst="rect">
            <a:avLst/>
          </a:prstGeom>
          <a:noFill/>
          <a:ln w="9525">
            <a:noFill/>
            <a:miter lim="800000"/>
            <a:headEnd/>
            <a:tailEnd/>
          </a:ln>
          <a:effectLst/>
        </p:spPr>
      </p:pic>
      <p:pic>
        <p:nvPicPr>
          <p:cNvPr id="7" name="Oct 25, 08.46 PM.mp3">
            <a:hlinkClick r:id="" action="ppaction://media"/>
          </p:cNvPr>
          <p:cNvPicPr>
            <a:picLocks noRot="1" noChangeAspect="1"/>
          </p:cNvPicPr>
          <p:nvPr>
            <a:audioFile r:link="rId1"/>
          </p:nvPr>
        </p:nvPicPr>
        <p:blipFill>
          <a:blip r:embed="rId4"/>
          <a:stretch>
            <a:fillRect/>
          </a:stretch>
        </p:blipFill>
        <p:spPr>
          <a:xfrm>
            <a:off x="7239000" y="58674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81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7"/>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are the major components of 5G technology? </a:t>
            </a:r>
            <a:endParaRPr lang="en-US" dirty="0"/>
          </a:p>
        </p:txBody>
      </p:sp>
      <p:sp>
        <p:nvSpPr>
          <p:cNvPr id="5" name="Content Placeholder 4"/>
          <p:cNvSpPr>
            <a:spLocks noGrp="1"/>
          </p:cNvSpPr>
          <p:nvPr>
            <p:ph idx="1"/>
          </p:nvPr>
        </p:nvSpPr>
        <p:spPr/>
        <p:txBody>
          <a:bodyPr>
            <a:normAutofit lnSpcReduction="10000"/>
          </a:bodyPr>
          <a:lstStyle/>
          <a:p>
            <a:r>
              <a:rPr lang="en-US" sz="2000" dirty="0" smtClean="0"/>
              <a:t>Full duplex mode of transmission:</a:t>
            </a:r>
          </a:p>
          <a:p>
            <a:pPr>
              <a:buNone/>
            </a:pPr>
            <a:endParaRPr lang="en-US" sz="2000" dirty="0" smtClean="0"/>
          </a:p>
          <a:p>
            <a:pPr>
              <a:buNone/>
            </a:pPr>
            <a:r>
              <a:rPr lang="en-US" sz="2000" dirty="0" smtClean="0"/>
              <a:t>In conventional </a:t>
            </a:r>
          </a:p>
          <a:p>
            <a:pPr>
              <a:buNone/>
            </a:pPr>
            <a:r>
              <a:rPr lang="en-US" sz="2000" dirty="0" smtClean="0"/>
              <a:t>transmission </a:t>
            </a:r>
          </a:p>
          <a:p>
            <a:pPr>
              <a:buNone/>
            </a:pPr>
            <a:r>
              <a:rPr lang="en-US" sz="2000" dirty="0" smtClean="0"/>
              <a:t>method, one </a:t>
            </a:r>
          </a:p>
          <a:p>
            <a:pPr>
              <a:buNone/>
            </a:pPr>
            <a:r>
              <a:rPr lang="en-US" sz="2000" dirty="0" smtClean="0"/>
              <a:t>single mode of </a:t>
            </a:r>
          </a:p>
          <a:p>
            <a:pPr>
              <a:buNone/>
            </a:pPr>
            <a:r>
              <a:rPr lang="en-US" sz="2000" dirty="0" smtClean="0"/>
              <a:t>transmission is</a:t>
            </a:r>
          </a:p>
          <a:p>
            <a:pPr>
              <a:buNone/>
            </a:pPr>
            <a:r>
              <a:rPr lang="en-US" sz="2000" dirty="0" smtClean="0"/>
              <a:t> possible in </a:t>
            </a:r>
          </a:p>
          <a:p>
            <a:pPr>
              <a:buNone/>
            </a:pPr>
            <a:r>
              <a:rPr lang="en-US" sz="2000" dirty="0" smtClean="0"/>
              <a:t>either direction. </a:t>
            </a:r>
          </a:p>
          <a:p>
            <a:pPr>
              <a:buNone/>
            </a:pPr>
            <a:r>
              <a:rPr lang="en-US" sz="2000" dirty="0" smtClean="0"/>
              <a:t>In full duplex </a:t>
            </a:r>
          </a:p>
          <a:p>
            <a:pPr>
              <a:buNone/>
            </a:pPr>
            <a:r>
              <a:rPr lang="en-US" sz="2000" dirty="0" smtClean="0"/>
              <a:t>mode, high </a:t>
            </a:r>
          </a:p>
          <a:p>
            <a:pPr>
              <a:buNone/>
            </a:pPr>
            <a:r>
              <a:rPr lang="en-US" sz="2000" dirty="0" smtClean="0"/>
              <a:t>speed switches are used to control data transfer in each direction by efficiently switching one at a time and fully utilizing the existing spectrum. The same frequency band can be used for transmission and receiving mode of operation.   </a:t>
            </a:r>
          </a:p>
          <a:p>
            <a:endParaRPr lang="en-US" sz="2000" dirty="0" smtClean="0"/>
          </a:p>
          <a:p>
            <a:endParaRPr lang="en-US" sz="2000" dirty="0" smtClean="0"/>
          </a:p>
          <a:p>
            <a:endParaRPr lang="en-US" sz="2000" dirty="0" smtClean="0"/>
          </a:p>
          <a:p>
            <a:endParaRPr lang="en-US" sz="2000" dirty="0"/>
          </a:p>
        </p:txBody>
      </p:sp>
      <p:pic>
        <p:nvPicPr>
          <p:cNvPr id="6" name="Picture 2"/>
          <p:cNvPicPr>
            <a:picLocks noChangeAspect="1" noChangeArrowheads="1"/>
          </p:cNvPicPr>
          <p:nvPr/>
        </p:nvPicPr>
        <p:blipFill>
          <a:blip r:embed="rId3"/>
          <a:srcRect/>
          <a:stretch>
            <a:fillRect/>
          </a:stretch>
        </p:blipFill>
        <p:spPr bwMode="auto">
          <a:xfrm>
            <a:off x="2514600" y="2133600"/>
            <a:ext cx="6372225" cy="2514600"/>
          </a:xfrm>
          <a:prstGeom prst="rect">
            <a:avLst/>
          </a:prstGeom>
          <a:noFill/>
          <a:ln w="9525">
            <a:noFill/>
            <a:miter lim="800000"/>
            <a:headEnd/>
            <a:tailEnd/>
          </a:ln>
          <a:effectLst/>
        </p:spPr>
      </p:pic>
      <p:pic>
        <p:nvPicPr>
          <p:cNvPr id="7" name="Oct 25, 08.47 PM.mp3">
            <a:hlinkClick r:id="" action="ppaction://media"/>
          </p:cNvPr>
          <p:cNvPicPr>
            <a:picLocks noRot="1" noChangeAspect="1"/>
          </p:cNvPicPr>
          <p:nvPr>
            <a:audioFile r:link="rId1"/>
          </p:nvPr>
        </p:nvPicPr>
        <p:blipFill>
          <a:blip r:embed="rId4"/>
          <a:stretch>
            <a:fillRect/>
          </a:stretch>
        </p:blipFill>
        <p:spPr>
          <a:xfrm>
            <a:off x="7467600" y="60198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22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7"/>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does 5G work?</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   </a:t>
            </a:r>
            <a:r>
              <a:rPr lang="en-US" sz="2000" dirty="0" smtClean="0"/>
              <a:t>Initially integrate 5G networks with existing 4G networks to provide a continuous connection. A mobile network has two main components, the ‘Radio Access Network’ and the ‘Core Network:</a:t>
            </a:r>
          </a:p>
          <a:p>
            <a:r>
              <a:rPr lang="en-US" sz="2000" dirty="0" smtClean="0"/>
              <a:t>The Radio Access Network :</a:t>
            </a:r>
          </a:p>
          <a:p>
            <a:pPr>
              <a:buNone/>
            </a:pPr>
            <a:r>
              <a:rPr lang="en-US" sz="2000" dirty="0" smtClean="0"/>
              <a:t>    The Radio Access Network consists of various types of facilities including small cells, towers, masts and dedicated in-building and home systems that connect mobile users and wireless devices to the main core network.</a:t>
            </a:r>
          </a:p>
          <a:p>
            <a:r>
              <a:rPr lang="en-US" sz="2000" dirty="0" smtClean="0"/>
              <a:t>The Core Network :</a:t>
            </a:r>
          </a:p>
          <a:p>
            <a:pPr>
              <a:buNone/>
            </a:pPr>
            <a:r>
              <a:rPr lang="en-US" sz="2000" dirty="0" smtClean="0"/>
              <a:t>     The core Network is the mobile exchange and data network that manages all of the mobile voice, data and internet connections. For 5G, the ‘core network’ is being redesigned to better integrate with the internet and cloud based services and also includes distributed servers across the network improving response times (reducing latency).</a:t>
            </a:r>
          </a:p>
        </p:txBody>
      </p:sp>
      <p:pic>
        <p:nvPicPr>
          <p:cNvPr id="7" name="Oct 25, 09.49 PM.mp3">
            <a:hlinkClick r:id="" action="ppaction://media"/>
          </p:cNvPr>
          <p:cNvPicPr>
            <a:picLocks noRot="1" noChangeAspect="1"/>
          </p:cNvPicPr>
          <p:nvPr>
            <a:audioFile r:link="rId1"/>
          </p:nvPr>
        </p:nvPicPr>
        <p:blipFill>
          <a:blip r:embed="rId3"/>
          <a:stretch>
            <a:fillRect/>
          </a:stretch>
        </p:blipFill>
        <p:spPr>
          <a:xfrm>
            <a:off x="7239000" y="60198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664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7"/>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are the difference between 4G and 5G networks?</a:t>
            </a:r>
            <a:endParaRPr lang="en-US" dirty="0"/>
          </a:p>
        </p:txBody>
      </p:sp>
      <p:sp>
        <p:nvSpPr>
          <p:cNvPr id="3" name="Content Placeholder 2"/>
          <p:cNvSpPr>
            <a:spLocks noGrp="1"/>
          </p:cNvSpPr>
          <p:nvPr>
            <p:ph idx="1"/>
          </p:nvPr>
        </p:nvSpPr>
        <p:spPr/>
        <p:txBody>
          <a:bodyPr/>
          <a:lstStyle/>
          <a:p>
            <a:r>
              <a:rPr lang="en-US" b="1" dirty="0" smtClean="0"/>
              <a:t>5G</a:t>
            </a:r>
            <a:r>
              <a:rPr lang="en-US" dirty="0" smtClean="0"/>
              <a:t> is expected to be nearly 100 times faster than </a:t>
            </a:r>
            <a:r>
              <a:rPr lang="en-US" b="1" dirty="0" smtClean="0"/>
              <a:t>4G</a:t>
            </a:r>
            <a:r>
              <a:rPr lang="en-US" dirty="0" smtClean="0"/>
              <a:t>. </a:t>
            </a:r>
          </a:p>
          <a:p>
            <a:r>
              <a:rPr lang="en-US" dirty="0" smtClean="0"/>
              <a:t>Those speeds are possible because most </a:t>
            </a:r>
            <a:r>
              <a:rPr lang="en-US" b="1" dirty="0" smtClean="0"/>
              <a:t>5G</a:t>
            </a:r>
            <a:r>
              <a:rPr lang="en-US" dirty="0" smtClean="0"/>
              <a:t> networks are built on super-high-frequency airwaves, also known as high-band spectrum. </a:t>
            </a:r>
          </a:p>
          <a:p>
            <a:r>
              <a:rPr lang="en-US" dirty="0" smtClean="0"/>
              <a:t>The higher frequencies can transmit much more data, much faster than on </a:t>
            </a:r>
            <a:r>
              <a:rPr lang="en-US" b="1" dirty="0" smtClean="0"/>
              <a:t>4G</a:t>
            </a:r>
            <a:r>
              <a:rPr lang="en-US" dirty="0" smtClean="0"/>
              <a:t>.</a:t>
            </a:r>
            <a:endParaRPr lang="en-US" dirty="0"/>
          </a:p>
        </p:txBody>
      </p:sp>
      <p:pic>
        <p:nvPicPr>
          <p:cNvPr id="4" name="Oct 25, 09.23 PM.mp3">
            <a:hlinkClick r:id="" action="ppaction://media"/>
          </p:cNvPr>
          <p:cNvPicPr>
            <a:picLocks noRot="1" noChangeAspect="1"/>
          </p:cNvPicPr>
          <p:nvPr>
            <a:audioFile r:link="rId1"/>
          </p:nvPr>
        </p:nvPicPr>
        <p:blipFill>
          <a:blip r:embed="rId3"/>
          <a:stretch>
            <a:fillRect/>
          </a:stretch>
        </p:blipFill>
        <p:spPr>
          <a:xfrm>
            <a:off x="7239000" y="58674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27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Will 5G work on 4G phone or devices? </a:t>
            </a:r>
            <a:endParaRPr lang="en-US" dirty="0"/>
          </a:p>
        </p:txBody>
      </p:sp>
      <p:sp>
        <p:nvSpPr>
          <p:cNvPr id="3" name="Content Placeholder 2"/>
          <p:cNvSpPr>
            <a:spLocks noGrp="1"/>
          </p:cNvSpPr>
          <p:nvPr>
            <p:ph idx="1"/>
          </p:nvPr>
        </p:nvSpPr>
        <p:spPr/>
        <p:txBody>
          <a:bodyPr/>
          <a:lstStyle/>
          <a:p>
            <a:pPr>
              <a:buNone/>
            </a:pPr>
            <a:r>
              <a:rPr lang="en-US" dirty="0" smtClean="0"/>
              <a:t>   Yes. If we are among the 86 percent of the population who are concerned that the recent rollouts of </a:t>
            </a:r>
            <a:r>
              <a:rPr lang="en-US" b="1" dirty="0" smtClean="0"/>
              <a:t>5G</a:t>
            </a:r>
            <a:r>
              <a:rPr lang="en-US" dirty="0" smtClean="0"/>
              <a:t> networks </a:t>
            </a:r>
            <a:r>
              <a:rPr lang="en-US" b="1" dirty="0" smtClean="0"/>
              <a:t>will</a:t>
            </a:r>
            <a:r>
              <a:rPr lang="en-US" dirty="0" smtClean="0"/>
              <a:t> make your </a:t>
            </a:r>
            <a:r>
              <a:rPr lang="en-US" b="1" dirty="0" smtClean="0"/>
              <a:t>4G</a:t>
            </a:r>
            <a:r>
              <a:rPr lang="en-US" dirty="0" smtClean="0"/>
              <a:t> cell phone obsolete, there's no need to worry. </a:t>
            </a:r>
            <a:r>
              <a:rPr lang="en-US" b="1" dirty="0" smtClean="0"/>
              <a:t>4G phones</a:t>
            </a:r>
            <a:r>
              <a:rPr lang="en-US" dirty="0" smtClean="0"/>
              <a:t> still </a:t>
            </a:r>
            <a:r>
              <a:rPr lang="en-US" b="1" dirty="0" smtClean="0"/>
              <a:t>work</a:t>
            </a:r>
            <a:r>
              <a:rPr lang="en-US" dirty="0" smtClean="0"/>
              <a:t> on a </a:t>
            </a:r>
            <a:r>
              <a:rPr lang="en-US" b="1" dirty="0" smtClean="0"/>
              <a:t>5G</a:t>
            </a:r>
            <a:r>
              <a:rPr lang="en-US" dirty="0" smtClean="0"/>
              <a:t> network, they just won't get that coveted </a:t>
            </a:r>
            <a:r>
              <a:rPr lang="en-US" b="1" dirty="0" smtClean="0"/>
              <a:t>5G</a:t>
            </a:r>
            <a:r>
              <a:rPr lang="en-US" dirty="0" smtClean="0"/>
              <a:t> speed.</a:t>
            </a:r>
            <a:endParaRPr lang="en-US" dirty="0"/>
          </a:p>
        </p:txBody>
      </p:sp>
      <p:pic>
        <p:nvPicPr>
          <p:cNvPr id="4" name="Oct 25, 09.26 PM.mp3">
            <a:hlinkClick r:id="" action="ppaction://media"/>
          </p:cNvPr>
          <p:cNvPicPr>
            <a:picLocks noRot="1" noChangeAspect="1"/>
          </p:cNvPicPr>
          <p:nvPr>
            <a:audioFile r:link="rId1"/>
          </p:nvPr>
        </p:nvPicPr>
        <p:blipFill>
          <a:blip r:embed="rId3"/>
          <a:stretch>
            <a:fillRect/>
          </a:stretch>
        </p:blipFill>
        <p:spPr>
          <a:xfrm>
            <a:off x="7086600" y="57150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64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are the disadvantages of 5G technology?</a:t>
            </a:r>
            <a:endParaRPr lang="en-US" dirty="0"/>
          </a:p>
        </p:txBody>
      </p:sp>
      <p:sp>
        <p:nvSpPr>
          <p:cNvPr id="3" name="Content Placeholder 2"/>
          <p:cNvSpPr>
            <a:spLocks noGrp="1"/>
          </p:cNvSpPr>
          <p:nvPr>
            <p:ph idx="1"/>
          </p:nvPr>
        </p:nvSpPr>
        <p:spPr/>
        <p:txBody>
          <a:bodyPr>
            <a:normAutofit lnSpcReduction="10000"/>
          </a:bodyPr>
          <a:lstStyle/>
          <a:p>
            <a:r>
              <a:rPr lang="en-US" dirty="0" smtClean="0"/>
              <a:t>Obstructions can impact connectivity. The range of </a:t>
            </a:r>
            <a:r>
              <a:rPr lang="en-US" b="1" dirty="0" smtClean="0"/>
              <a:t>5G</a:t>
            </a:r>
            <a:r>
              <a:rPr lang="en-US" dirty="0" smtClean="0"/>
              <a:t> connectivity is not great as the frequency waves are only able to travel a short distance. </a:t>
            </a:r>
          </a:p>
          <a:p>
            <a:r>
              <a:rPr lang="en-US" dirty="0" smtClean="0"/>
              <a:t>Initial costs for rollout are high. ...</a:t>
            </a:r>
          </a:p>
          <a:p>
            <a:r>
              <a:rPr lang="en-US" dirty="0" smtClean="0"/>
              <a:t>Limitations of rural access. ...</a:t>
            </a:r>
          </a:p>
          <a:p>
            <a:r>
              <a:rPr lang="en-US" dirty="0" smtClean="0"/>
              <a:t>Battery drain on devices. ...</a:t>
            </a:r>
          </a:p>
          <a:p>
            <a:r>
              <a:rPr lang="en-US" dirty="0" smtClean="0"/>
              <a:t>Upload speeds don't match download speeds. ...</a:t>
            </a:r>
          </a:p>
          <a:p>
            <a:r>
              <a:rPr lang="en-US" dirty="0" smtClean="0"/>
              <a:t>Detracting from the aesthetics.</a:t>
            </a:r>
          </a:p>
        </p:txBody>
      </p:sp>
      <p:pic>
        <p:nvPicPr>
          <p:cNvPr id="4" name="Oct 25, 09.27 PM.mp3">
            <a:hlinkClick r:id="" action="ppaction://media"/>
          </p:cNvPr>
          <p:cNvPicPr>
            <a:picLocks noRot="1" noChangeAspect="1"/>
          </p:cNvPicPr>
          <p:nvPr>
            <a:audioFile r:link="rId1"/>
          </p:nvPr>
        </p:nvPicPr>
        <p:blipFill>
          <a:blip r:embed="rId3"/>
          <a:stretch>
            <a:fillRect/>
          </a:stretch>
        </p:blipFill>
        <p:spPr>
          <a:xfrm>
            <a:off x="7391400" y="59436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66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Which countries have 5G network?</a:t>
            </a:r>
            <a:endParaRPr lang="en-US" dirty="0"/>
          </a:p>
        </p:txBody>
      </p:sp>
      <p:sp>
        <p:nvSpPr>
          <p:cNvPr id="3" name="Content Placeholder 2"/>
          <p:cNvSpPr>
            <a:spLocks noGrp="1"/>
          </p:cNvSpPr>
          <p:nvPr>
            <p:ph idx="1"/>
          </p:nvPr>
        </p:nvSpPr>
        <p:spPr/>
        <p:txBody>
          <a:bodyPr/>
          <a:lstStyle/>
          <a:p>
            <a:pPr>
              <a:buNone/>
            </a:pPr>
            <a:r>
              <a:rPr lang="en-US" smtClean="0"/>
              <a:t>   South </a:t>
            </a:r>
            <a:r>
              <a:rPr lang="en-US" dirty="0" smtClean="0"/>
              <a:t>Korea , China and the United states are the countries that lead the world in building  and deploying  5G technology.</a:t>
            </a:r>
            <a:endParaRPr lang="en-US" dirty="0"/>
          </a:p>
        </p:txBody>
      </p:sp>
      <p:pic>
        <p:nvPicPr>
          <p:cNvPr id="4" name="Oct 25, 09.30 PM (1).mp3">
            <a:hlinkClick r:id="" action="ppaction://media"/>
          </p:cNvPr>
          <p:cNvPicPr>
            <a:picLocks noRot="1" noChangeAspect="1"/>
          </p:cNvPicPr>
          <p:nvPr>
            <a:audioFile r:link="rId1"/>
          </p:nvPr>
        </p:nvPicPr>
        <p:blipFill>
          <a:blip r:embed="rId3"/>
          <a:stretch>
            <a:fillRect/>
          </a:stretch>
        </p:blipFill>
        <p:spPr>
          <a:xfrm>
            <a:off x="7162800" y="5638800"/>
            <a:ext cx="304800" cy="30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60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oundry">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Foundry">
      <a:majorFont>
        <a:latin typeface="Rockwell"/>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oundry">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75000"/>
                <a:satMod val="400000"/>
              </a:schemeClr>
            </a:gs>
            <a:gs pos="20000">
              <a:schemeClr val="phClr">
                <a:tint val="80000"/>
                <a:satMod val="355000"/>
              </a:schemeClr>
            </a:gs>
            <a:gs pos="100000">
              <a:schemeClr val="phClr">
                <a:tint val="95000"/>
                <a:shade val="55000"/>
                <a:satMod val="355000"/>
              </a:schemeClr>
            </a:gs>
          </a:gsLst>
          <a:path path="circle">
            <a:fillToRect l="67500" t="35000" r="32500" b="65000"/>
          </a:path>
        </a:gradFill>
        <a:blipFill>
          <a:blip xmlns:r="http://schemas.openxmlformats.org/officeDocument/2006/relationships" r:embed="rId1">
            <a:duotone>
              <a:schemeClr val="phClr">
                <a:shade val="30000"/>
                <a:satMod val="120000"/>
              </a:schemeClr>
              <a:schemeClr val="phClr">
                <a:tint val="70000"/>
                <a:satMod val="250000"/>
              </a:schemeClr>
            </a:duotone>
          </a:blip>
          <a:tile tx="0" ty="0" sx="50000" sy="50000" flip="none" algn="t"/>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Foundry</Template>
  <TotalTime>376</TotalTime>
  <Words>840</Words>
  <Application>Microsoft Office PowerPoint</Application>
  <PresentationFormat>On-screen Show (4:3)</PresentationFormat>
  <Paragraphs>117</Paragraphs>
  <Slides>18</Slides>
  <Notes>0</Notes>
  <HiddenSlides>0</HiddenSlides>
  <MMClips>18</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Foundry</vt:lpstr>
      <vt:lpstr>5G NETWORK</vt:lpstr>
      <vt:lpstr>Questions</vt:lpstr>
      <vt:lpstr>Questions</vt:lpstr>
      <vt:lpstr>What is 5G network?</vt:lpstr>
      <vt:lpstr>Who created 5G technology?</vt:lpstr>
      <vt:lpstr>What will enable 5G network?</vt:lpstr>
      <vt:lpstr> What new is offered by  5G application?</vt:lpstr>
      <vt:lpstr>What are the major components of 5G technology?</vt:lpstr>
      <vt:lpstr>What are the major components of 5g technology?</vt:lpstr>
      <vt:lpstr>What are the major components of 5G technology? </vt:lpstr>
      <vt:lpstr>What are the major components of 5G technology? </vt:lpstr>
      <vt:lpstr>What are the major components of 5G technology? </vt:lpstr>
      <vt:lpstr>What are the major components of 5G technology? </vt:lpstr>
      <vt:lpstr>How does 5G work?</vt:lpstr>
      <vt:lpstr>What are the difference between 4G and 5G networks?</vt:lpstr>
      <vt:lpstr>Will 5G work on 4G phone or devices? </vt:lpstr>
      <vt:lpstr>What are the disadvantages of 5G technology?</vt:lpstr>
      <vt:lpstr>Which countries have 5G network?</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5G NETWORK</dc:title>
  <dc:creator>my</dc:creator>
  <cp:lastModifiedBy>my</cp:lastModifiedBy>
  <cp:revision>45</cp:revision>
  <dcterms:created xsi:type="dcterms:W3CDTF">2020-10-23T06:28:47Z</dcterms:created>
  <dcterms:modified xsi:type="dcterms:W3CDTF">2020-10-26T13:08:54Z</dcterms:modified>
</cp:coreProperties>
</file>